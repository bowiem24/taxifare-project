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4" r:id="rId9"/>
    <p:sldId id="265" r:id="rId10"/>
    <p:sldId id="266" r:id="rId11"/>
    <p:sldId id="26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52" d="100"/>
          <a:sy n="52" d="100"/>
        </p:scale>
        <p:origin x="102" y="4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098147" y="33293"/>
            <a:ext cx="9072562" cy="4605349"/>
            <a:chOff x="1213892" y="2652451"/>
            <a:chExt cx="9072562" cy="472916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9433" t="11544" r="9129" b="262"/>
            <a:stretch/>
          </p:blipFill>
          <p:spPr>
            <a:xfrm>
              <a:off x="1213892" y="2652451"/>
              <a:ext cx="9072562" cy="4729162"/>
            </a:xfrm>
            <a:prstGeom prst="rect">
              <a:avLst/>
            </a:prstGeom>
            <a:effectLst>
              <a:reflection blurRad="6350" stA="50000" endA="300" endPos="55000" dir="5400000" sy="-100000" algn="bl" rotWithShape="0"/>
            </a:effectLst>
          </p:spPr>
        </p:pic>
        <p:sp>
          <p:nvSpPr>
            <p:cNvPr id="2" name="TextBox 1"/>
            <p:cNvSpPr txBox="1"/>
            <p:nvPr/>
          </p:nvSpPr>
          <p:spPr>
            <a:xfrm>
              <a:off x="8623277" y="4611021"/>
              <a:ext cx="9595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TM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42874" y="6536267"/>
            <a:ext cx="2792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5" name="TextBox 4"/>
          <p:cNvSpPr txBox="1"/>
          <p:nvPr/>
        </p:nvSpPr>
        <p:spPr>
          <a:xfrm>
            <a:off x="9244013" y="6536267"/>
            <a:ext cx="3333749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100" dirty="0"/>
              <a:t>©Grey Hugh’s Technologies Pty (Ltd) 2018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35111" y="3660237"/>
            <a:ext cx="593677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400" b="1" dirty="0">
                <a:latin typeface="Arial" panose="020B0604020202020204" pitchFamily="34" charset="0"/>
                <a:cs typeface="Arial" panose="020B0604020202020204" pitchFamily="34" charset="0"/>
              </a:rPr>
              <a:t>A Registered Trademark of Grey Hugh’s Technologies Pty (Ltd)</a:t>
            </a:r>
          </a:p>
        </p:txBody>
      </p:sp>
    </p:spTree>
    <p:extLst>
      <p:ext uri="{BB962C8B-B14F-4D97-AF65-F5344CB8AC3E}">
        <p14:creationId xmlns:p14="http://schemas.microsoft.com/office/powerpoint/2010/main" val="2761816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598379" y="2790968"/>
            <a:ext cx="8762657" cy="68002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800" dirty="0"/>
              <a:t>Digital Payments via QR Code &amp; USSD for the Minibus Taxi Industry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598379" y="606490"/>
            <a:ext cx="8463841" cy="1166884"/>
          </a:xfrm>
        </p:spPr>
        <p:txBody>
          <a:bodyPr>
            <a:normAutofit fontScale="90000"/>
          </a:bodyPr>
          <a:lstStyle/>
          <a:p>
            <a:pPr algn="ctr"/>
            <a:r>
              <a:rPr lang="en-ZA" sz="4400" dirty="0" smtClean="0">
                <a:solidFill>
                  <a:srgbClr val="FFFF00"/>
                </a:solidFill>
              </a:rPr>
              <a:t>Revolutionizing Taxi Fare Payments in South Africa</a:t>
            </a:r>
            <a:r>
              <a:rPr lang="en-ZA" sz="4400" dirty="0" smtClean="0">
                <a:solidFill>
                  <a:srgbClr val="FFFF00"/>
                </a:solidFill>
              </a:rPr>
              <a:t>.</a:t>
            </a:r>
            <a:endParaRPr lang="en-ZA" sz="4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196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088960" y="749916"/>
            <a:ext cx="8286681" cy="1081088"/>
          </a:xfrm>
        </p:spPr>
        <p:txBody>
          <a:bodyPr>
            <a:normAutofit fontScale="90000"/>
          </a:bodyPr>
          <a:lstStyle/>
          <a:p>
            <a:pPr algn="ctr"/>
            <a:r>
              <a:rPr lang="en-ZA" sz="4400" dirty="0" smtClean="0">
                <a:solidFill>
                  <a:srgbClr val="FFFF00"/>
                </a:solidFill>
              </a:rPr>
              <a:t>The South African Taxi Industry Today</a:t>
            </a:r>
            <a:r>
              <a:rPr lang="en-ZA" sz="4400" dirty="0" smtClean="0">
                <a:solidFill>
                  <a:srgbClr val="FFFF00"/>
                </a:solidFill>
              </a:rPr>
              <a:t>.</a:t>
            </a:r>
            <a:endParaRPr lang="en-ZA" sz="4400" dirty="0">
              <a:solidFill>
                <a:srgbClr val="FF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4294967295"/>
          </p:nvPr>
        </p:nvSpPr>
        <p:spPr bwMode="blackGray">
          <a:xfrm>
            <a:off x="1271120" y="2222890"/>
            <a:ext cx="9613900" cy="3598863"/>
          </a:xfrm>
        </p:spPr>
        <p:txBody>
          <a:bodyPr>
            <a:noAutofit/>
          </a:bodyPr>
          <a:lstStyle/>
          <a:p>
            <a:r>
              <a:rPr lang="en-US" sz="2800" dirty="0"/>
              <a:t>Moves over </a:t>
            </a:r>
            <a:r>
              <a:rPr lang="en-US" sz="2800" dirty="0" smtClean="0"/>
              <a:t>15 </a:t>
            </a:r>
            <a:r>
              <a:rPr lang="en-US" sz="2800" dirty="0"/>
              <a:t>million commuters daily, vital to national </a:t>
            </a:r>
            <a:r>
              <a:rPr lang="en-US" sz="2800" dirty="0" smtClean="0"/>
              <a:t>transport, (According to Transaction Capital.2015)</a:t>
            </a:r>
            <a:endParaRPr lang="en-US" sz="2800" dirty="0"/>
          </a:p>
          <a:p>
            <a:r>
              <a:rPr lang="en-US" sz="2800" dirty="0"/>
              <a:t>Still heavily reliant on cash: manual fare collection causes delays, theft risks, and data gaps</a:t>
            </a:r>
          </a:p>
          <a:p>
            <a:r>
              <a:rPr lang="en-US" sz="2800" dirty="0"/>
              <a:t>Lack of reliable trip and revenue data hinders planning and growth</a:t>
            </a:r>
          </a:p>
        </p:txBody>
      </p:sp>
    </p:spTree>
    <p:extLst>
      <p:ext uri="{BB962C8B-B14F-4D97-AF65-F5344CB8AC3E}">
        <p14:creationId xmlns:p14="http://schemas.microsoft.com/office/powerpoint/2010/main" val="3935910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09759" y="765483"/>
            <a:ext cx="9491663" cy="990600"/>
          </a:xfrm>
        </p:spPr>
        <p:txBody>
          <a:bodyPr>
            <a:noAutofit/>
          </a:bodyPr>
          <a:lstStyle/>
          <a:p>
            <a:pPr algn="ctr"/>
            <a:r>
              <a:rPr lang="en-ZA" sz="4400" dirty="0" smtClean="0">
                <a:solidFill>
                  <a:srgbClr val="FFFF00"/>
                </a:solidFill>
              </a:rPr>
              <a:t>Why Digital Payments Are Urgent</a:t>
            </a:r>
            <a:r>
              <a:rPr lang="en-ZA" sz="4400" dirty="0" smtClean="0">
                <a:solidFill>
                  <a:srgbClr val="FFFF00"/>
                </a:solidFill>
              </a:rPr>
              <a:t>.</a:t>
            </a:r>
            <a:endParaRPr lang="en-ZA" sz="4400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114581" y="1971557"/>
            <a:ext cx="10481480" cy="3968466"/>
          </a:xfrm>
        </p:spPr>
        <p:txBody>
          <a:bodyPr>
            <a:noAutofit/>
          </a:bodyPr>
          <a:lstStyle/>
          <a:p>
            <a:r>
              <a:rPr lang="en-US" sz="2800" dirty="0"/>
              <a:t>Post-pandemic commuter expectations: faster boarding, safer travel, cashless convenience</a:t>
            </a:r>
          </a:p>
          <a:p>
            <a:r>
              <a:rPr lang="en-US" sz="2800" dirty="0"/>
              <a:t>Manual cash handling leads to operational inefficiencies and security risks</a:t>
            </a:r>
          </a:p>
          <a:p>
            <a:r>
              <a:rPr lang="en-US" sz="2800" dirty="0"/>
              <a:t>Digital payments unlock data for smarter fleet management and regulatory compliance</a:t>
            </a:r>
          </a:p>
        </p:txBody>
      </p:sp>
    </p:spTree>
    <p:extLst>
      <p:ext uri="{BB962C8B-B14F-4D97-AF65-F5344CB8AC3E}">
        <p14:creationId xmlns:p14="http://schemas.microsoft.com/office/powerpoint/2010/main" val="2047774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160469" y="765483"/>
            <a:ext cx="9491663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400" dirty="0" smtClean="0">
                <a:solidFill>
                  <a:srgbClr val="FFFF00"/>
                </a:solidFill>
              </a:rPr>
              <a:t>Introducing Our Digital Payment Platform</a:t>
            </a:r>
            <a:r>
              <a:rPr lang="en-ZA" sz="4400" dirty="0" smtClean="0">
                <a:solidFill>
                  <a:srgbClr val="FFFF00"/>
                </a:solidFill>
              </a:rPr>
              <a:t>. </a:t>
            </a:r>
            <a:endParaRPr lang="en-ZA" sz="4400" dirty="0">
              <a:solidFill>
                <a:srgbClr val="FFFF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64577" y="2199834"/>
            <a:ext cx="8065827" cy="30469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Enables taxi fare payments via QR codes or USSD numbers—accessible on any </a:t>
            </a:r>
            <a:r>
              <a:rPr lang="en-US" sz="2800" dirty="0" smtClean="0"/>
              <a:t>phone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No smartphone? No problem: USSD ensures inclusion for all </a:t>
            </a:r>
            <a:r>
              <a:rPr lang="en-US" sz="2800" dirty="0" smtClean="0"/>
              <a:t>commuters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Simple, secure, and fast transactions directly integrated into taxi operations</a:t>
            </a:r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47194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103407" y="2067378"/>
            <a:ext cx="9613900" cy="359886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Commuter scans QR code or dials USSD number at taxi entry</a:t>
            </a:r>
          </a:p>
          <a:p>
            <a:r>
              <a:rPr lang="en-US" sz="2800" dirty="0" smtClean="0"/>
              <a:t>Selects fare amount, confirms payment via mobile money, bank card, or wallet</a:t>
            </a:r>
          </a:p>
          <a:p>
            <a:r>
              <a:rPr lang="en-US" sz="2800" dirty="0" smtClean="0"/>
              <a:t>Instant confirmation to driver and commuter; transaction recorded digitally</a:t>
            </a:r>
          </a:p>
          <a:p>
            <a:r>
              <a:rPr lang="en-US" sz="2800" dirty="0" smtClean="0"/>
              <a:t>Enables real-time tracking of trips and revenue (upload your flow diagram here)</a:t>
            </a:r>
            <a:endParaRPr lang="en-US" sz="28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00075" y="738188"/>
            <a:ext cx="9491663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400" dirty="0" smtClean="0">
                <a:solidFill>
                  <a:srgbClr val="FFFF00"/>
                </a:solidFill>
              </a:rPr>
              <a:t>How It Works: Payment Flow Overview</a:t>
            </a:r>
            <a:endParaRPr lang="en-ZA" sz="4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5883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420647" y="1936749"/>
            <a:ext cx="9613900" cy="3598863"/>
          </a:xfrm>
        </p:spPr>
        <p:txBody>
          <a:bodyPr>
            <a:normAutofit/>
          </a:bodyPr>
          <a:lstStyle/>
          <a:p>
            <a:r>
              <a:rPr lang="en-US" sz="2800" dirty="0"/>
              <a:t>No need to carry cash or exact change—reduces theft and loss</a:t>
            </a:r>
          </a:p>
          <a:p>
            <a:r>
              <a:rPr lang="en-US" sz="2800" dirty="0"/>
              <a:t>Faster boarding, shorter queues, and smoother rides</a:t>
            </a:r>
          </a:p>
          <a:p>
            <a:r>
              <a:rPr lang="en-US" sz="2800" dirty="0"/>
              <a:t>Access to digital receipts and travel history for transparency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00075" y="738188"/>
            <a:ext cx="9491663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400" dirty="0" smtClean="0">
                <a:solidFill>
                  <a:srgbClr val="FFFF00"/>
                </a:solidFill>
              </a:rPr>
              <a:t>Benefits for Commuters.</a:t>
            </a:r>
            <a:endParaRPr lang="en-ZA" sz="4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3449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52697" y="1974072"/>
            <a:ext cx="9613900" cy="3598863"/>
          </a:xfrm>
        </p:spPr>
        <p:txBody>
          <a:bodyPr>
            <a:normAutofit/>
          </a:bodyPr>
          <a:lstStyle/>
          <a:p>
            <a:r>
              <a:rPr lang="en-US" sz="2800" dirty="0"/>
              <a:t>Daily digital payouts and transparent revenue tracking</a:t>
            </a:r>
          </a:p>
          <a:p>
            <a:r>
              <a:rPr lang="en-US" sz="2800" dirty="0"/>
              <a:t>Reduced cash handling risks and improved safety for drivers</a:t>
            </a:r>
          </a:p>
          <a:p>
            <a:r>
              <a:rPr lang="en-US" sz="2800" dirty="0"/>
              <a:t>Data-driven insights for fleet management and route optimization</a:t>
            </a:r>
          </a:p>
          <a:p>
            <a:r>
              <a:rPr lang="en-US" sz="2800" dirty="0"/>
              <a:t>Supports compliance with new transport regulations and integration with SANRAL systems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00075" y="738188"/>
            <a:ext cx="9491663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400" dirty="0" smtClean="0">
                <a:solidFill>
                  <a:srgbClr val="FFFF00"/>
                </a:solidFill>
              </a:rPr>
              <a:t>Benefits for Taxi Operators and Associations.</a:t>
            </a:r>
            <a:endParaRPr lang="en-ZA" sz="4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454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476632" y="1918088"/>
            <a:ext cx="9613900" cy="3598863"/>
          </a:xfrm>
        </p:spPr>
        <p:txBody>
          <a:bodyPr>
            <a:normAutofit/>
          </a:bodyPr>
          <a:lstStyle/>
          <a:p>
            <a:r>
              <a:rPr lang="en-US" sz="2800" dirty="0"/>
              <a:t>Financial inclusion: integrates informal taxi economy into formal digital finance</a:t>
            </a:r>
          </a:p>
          <a:p>
            <a:r>
              <a:rPr lang="en-US" sz="2800" dirty="0"/>
              <a:t>Creates new job opportunities via agent networks for top-ups and support</a:t>
            </a:r>
          </a:p>
          <a:p>
            <a:r>
              <a:rPr lang="en-US" sz="2800" dirty="0"/>
              <a:t>Enhances commuter trust and satisfaction, boosting ridership and revenue</a:t>
            </a:r>
          </a:p>
          <a:p>
            <a:r>
              <a:rPr lang="en-US" sz="2800" dirty="0"/>
              <a:t>Aligns with national digital transformation goals led by SANTACO and partners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00075" y="738188"/>
            <a:ext cx="9491663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400" dirty="0" smtClean="0">
                <a:solidFill>
                  <a:srgbClr val="FFFF00"/>
                </a:solidFill>
              </a:rPr>
              <a:t>Economic and Social Impact.</a:t>
            </a:r>
            <a:endParaRPr lang="en-ZA" sz="4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307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10101" y="1936749"/>
            <a:ext cx="9613900" cy="3598863"/>
          </a:xfrm>
        </p:spPr>
        <p:txBody>
          <a:bodyPr>
            <a:normAutofit/>
          </a:bodyPr>
          <a:lstStyle/>
          <a:p>
            <a:r>
              <a:rPr lang="en-US" sz="2800" dirty="0"/>
              <a:t>Supported by SANTACO, MTN, and major </a:t>
            </a:r>
            <a:r>
              <a:rPr lang="en-US" sz="2800" dirty="0" err="1"/>
              <a:t>fintech</a:t>
            </a:r>
            <a:r>
              <a:rPr lang="en-US" sz="2800" dirty="0"/>
              <a:t> players like </a:t>
            </a:r>
            <a:r>
              <a:rPr lang="en-US" sz="2800" dirty="0" err="1"/>
              <a:t>SAPay</a:t>
            </a:r>
            <a:r>
              <a:rPr lang="en-US" sz="2800" dirty="0"/>
              <a:t> and </a:t>
            </a:r>
            <a:r>
              <a:rPr lang="en-US" sz="2800" dirty="0" err="1"/>
              <a:t>Waxd</a:t>
            </a:r>
            <a:endParaRPr lang="en-US" sz="2800" dirty="0"/>
          </a:p>
          <a:p>
            <a:r>
              <a:rPr lang="en-US" sz="2800" dirty="0"/>
              <a:t>Early pilots show reduced cash theft, faster boarding, and better data capture</a:t>
            </a:r>
          </a:p>
          <a:p>
            <a:r>
              <a:rPr lang="en-US" sz="2800" dirty="0"/>
              <a:t>Government backing through National Land Transport Act compliance initiatives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42671" y="588898"/>
            <a:ext cx="9491663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400" dirty="0" smtClean="0">
                <a:solidFill>
                  <a:srgbClr val="FFFF00"/>
                </a:solidFill>
              </a:rPr>
              <a:t>Proven Momentum and Partnerships.</a:t>
            </a:r>
            <a:endParaRPr lang="en-ZA" sz="4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125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930354" y="976802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400" dirty="0" smtClean="0">
                <a:solidFill>
                  <a:srgbClr val="FFFF00"/>
                </a:solidFill>
              </a:rPr>
              <a:t>Join Us in Driving the Future of Taxi Travel</a:t>
            </a:r>
            <a:r>
              <a:rPr lang="en-ZA" sz="4400" dirty="0" smtClean="0">
                <a:solidFill>
                  <a:srgbClr val="FFFF00"/>
                </a:solidFill>
              </a:rPr>
              <a:t>.</a:t>
            </a:r>
            <a:endParaRPr lang="en-ZA" sz="4400" dirty="0">
              <a:solidFill>
                <a:srgbClr val="FFFF00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C6CD00A-8E2F-2C49-84BE-DECA4A838C30}"/>
              </a:ext>
            </a:extLst>
          </p:cNvPr>
          <p:cNvSpPr txBox="1">
            <a:spLocks/>
          </p:cNvSpPr>
          <p:nvPr/>
        </p:nvSpPr>
        <p:spPr>
          <a:xfrm>
            <a:off x="930354" y="2496586"/>
            <a:ext cx="9613900" cy="359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Embrace cashless payments to modernize South Africa’s taxi industry</a:t>
            </a:r>
          </a:p>
          <a:p>
            <a:r>
              <a:rPr lang="en-US" sz="2800" dirty="0"/>
              <a:t>Improve safety, efficiency, and financial empowerment for millions</a:t>
            </a:r>
          </a:p>
          <a:p>
            <a:r>
              <a:rPr lang="en-US" sz="2800" dirty="0"/>
              <a:t>Together, let’s build smarter, safer, and more connected transport for all</a:t>
            </a:r>
          </a:p>
          <a:p>
            <a:r>
              <a:rPr lang="en-US" sz="2800" dirty="0"/>
              <a:t>Contact us to learn more and see the platform in action</a:t>
            </a:r>
          </a:p>
        </p:txBody>
      </p:sp>
    </p:spTree>
    <p:extLst>
      <p:ext uri="{BB962C8B-B14F-4D97-AF65-F5344CB8AC3E}">
        <p14:creationId xmlns:p14="http://schemas.microsoft.com/office/powerpoint/2010/main" val="3209346948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Berlin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1647</TotalTime>
  <Words>453</Words>
  <Application>Microsoft Office PowerPoint</Application>
  <PresentationFormat>Widescreen</PresentationFormat>
  <Paragraphs>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Trebuchet MS</vt:lpstr>
      <vt:lpstr>Berlin</vt:lpstr>
      <vt:lpstr>PowerPoint Presentation</vt:lpstr>
      <vt:lpstr>Revolutionizing Taxi Fare Payments in South Africa.</vt:lpstr>
      <vt:lpstr>The South African Taxi Industry Today.</vt:lpstr>
      <vt:lpstr>Why Digital Payments Are Urgent.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Join Us in Driving the Future of Taxi Travel.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Petronella</dc:creator>
  <cp:lastModifiedBy>bowie monama</cp:lastModifiedBy>
  <cp:revision>68</cp:revision>
  <dcterms:created xsi:type="dcterms:W3CDTF">2019-08-05T16:39:46Z</dcterms:created>
  <dcterms:modified xsi:type="dcterms:W3CDTF">2026-02-18T10:06:28Z</dcterms:modified>
</cp:coreProperties>
</file>